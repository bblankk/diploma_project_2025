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7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5C44055-3CB8-BBF4-73B1-FB26B4DF33DD}" v="654" dt="2025-07-14T00:18:03.65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E729F8-20DB-40E9-8518-7232E444CAD5}" type="datetimeFigureOut">
              <a:t>7/13/2025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DCFEBC-38E9-4291-A71A-79FC6AB12D9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>
                <a:ea typeface="Calibri"/>
                <a:cs typeface="Calibri"/>
              </a:rPr>
              <a:t>Преди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да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почнем</a:t>
            </a:r>
            <a:r>
              <a:rPr lang="en-US" dirty="0">
                <a:ea typeface="Calibri"/>
                <a:cs typeface="Calibri"/>
              </a:rPr>
              <a:t>, </a:t>
            </a:r>
            <a:r>
              <a:rPr lang="en-US" dirty="0" err="1">
                <a:ea typeface="Calibri"/>
                <a:cs typeface="Calibri"/>
              </a:rPr>
              <a:t>тъй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като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моя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проект</a:t>
            </a:r>
            <a:r>
              <a:rPr lang="en-US" dirty="0">
                <a:ea typeface="Calibri"/>
                <a:cs typeface="Calibri"/>
              </a:rPr>
              <a:t> е </a:t>
            </a:r>
            <a:r>
              <a:rPr lang="en-US" dirty="0" err="1">
                <a:ea typeface="Calibri"/>
                <a:cs typeface="Calibri"/>
              </a:rPr>
              <a:t>малко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по-различен</a:t>
            </a:r>
            <a:r>
              <a:rPr lang="en-US" dirty="0">
                <a:ea typeface="Calibri"/>
                <a:cs typeface="Calibri"/>
              </a:rPr>
              <a:t>, </a:t>
            </a:r>
            <a:r>
              <a:rPr lang="en-US" dirty="0" err="1">
                <a:ea typeface="Calibri"/>
                <a:cs typeface="Calibri"/>
              </a:rPr>
              <a:t>се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надявам</a:t>
            </a:r>
            <a:endParaRPr lang="en-US" dirty="0">
              <a:ea typeface="Calibri"/>
              <a:cs typeface="Calibri"/>
            </a:endParaRPr>
          </a:p>
          <a:p>
            <a:r>
              <a:rPr lang="en-US" dirty="0" err="1">
                <a:ea typeface="Calibri"/>
                <a:cs typeface="Calibri"/>
              </a:rPr>
              <a:t>Да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ви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напомня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едни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знания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преди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да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почнем</a:t>
            </a:r>
            <a:r>
              <a:rPr lang="en-US" dirty="0">
                <a:ea typeface="Calibri"/>
                <a:cs typeface="Calibri"/>
              </a:rPr>
              <a:t>.</a:t>
            </a:r>
          </a:p>
          <a:p>
            <a:r>
              <a:rPr lang="en-US" dirty="0">
                <a:ea typeface="Calibri"/>
                <a:cs typeface="Calibri"/>
              </a:rPr>
              <a:t>Registers interact directly with the ram, but not the disk, where the code lives – do you get the dilemma?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DCFEBC-38E9-4291-A71A-79FC6AB12D91}" type="slidenum"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06484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a typeface="Calibri"/>
                <a:cs typeface="Calibri"/>
              </a:rPr>
              <a:t>1-2 : BIOS looks for a bootable device (among other things)</a:t>
            </a:r>
          </a:p>
          <a:p>
            <a:r>
              <a:rPr lang="en-US" dirty="0">
                <a:ea typeface="Calibri"/>
                <a:cs typeface="Calibri"/>
              </a:rPr>
              <a:t>Disk data cannot be accessed by the CPU before it's been LOADED INTO RAM.</a:t>
            </a:r>
          </a:p>
          <a:p>
            <a:r>
              <a:rPr lang="en-US" dirty="0">
                <a:ea typeface="Calibri"/>
                <a:cs typeface="Calibri"/>
              </a:rPr>
              <a:t>Thus, the Bootloader function is: Load sector X from disk into RAM at address 0x8000; - then the </a:t>
            </a:r>
            <a:r>
              <a:rPr lang="en-US" dirty="0" err="1">
                <a:ea typeface="Calibri"/>
                <a:cs typeface="Calibri"/>
              </a:rPr>
              <a:t>cpu</a:t>
            </a:r>
            <a:r>
              <a:rPr lang="en-US" dirty="0">
                <a:ea typeface="Calibri"/>
                <a:cs typeface="Calibri"/>
              </a:rPr>
              <a:t> jumps there and starts running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DCFEBC-38E9-4291-A71A-79FC6AB12D91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4193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a typeface="Calibri"/>
                <a:cs typeface="Calibri"/>
              </a:rPr>
              <a:t>After the BIOS starts up the boot sector, this is w</a:t>
            </a:r>
            <a:r>
              <a:rPr lang="en-US" dirty="0">
                <a:solidFill>
                  <a:srgbClr val="FF0000"/>
                </a:solidFill>
                <a:ea typeface="Calibri"/>
                <a:cs typeface="Calibri"/>
              </a:rPr>
              <a:t>here the bootloader lives. This thing has a few responsibilities:</a:t>
            </a:r>
          </a:p>
          <a:p>
            <a:pPr marL="171450" indent="-171450">
              <a:buFont typeface="Calibri"/>
              <a:buChar char="-"/>
            </a:pPr>
            <a:r>
              <a:rPr lang="en-US" dirty="0">
                <a:solidFill>
                  <a:srgbClr val="FF0000"/>
                </a:solidFill>
              </a:rPr>
              <a:t>Main </a:t>
            </a:r>
            <a:r>
              <a:rPr lang="en-US" dirty="0" err="1">
                <a:solidFill>
                  <a:srgbClr val="FF0000"/>
                </a:solidFill>
              </a:rPr>
              <a:t>func</a:t>
            </a:r>
            <a:r>
              <a:rPr lang="en-US" dirty="0">
                <a:solidFill>
                  <a:srgbClr val="FF0000"/>
                </a:solidFill>
              </a:rPr>
              <a:t>: Initialize the system and load the operating system or kernel into memory so it can take control </a:t>
            </a:r>
            <a:endParaRPr lang="en-US" dirty="0">
              <a:solidFill>
                <a:srgbClr val="FF0000"/>
              </a:solidFill>
              <a:ea typeface="Calibri"/>
              <a:cs typeface="Calibri"/>
            </a:endParaRPr>
          </a:p>
          <a:p>
            <a:pPr marL="171450" indent="-171450">
              <a:buFont typeface="Calibri"/>
              <a:buChar char="-"/>
            </a:pPr>
            <a:r>
              <a:rPr lang="en-US" dirty="0">
                <a:solidFill>
                  <a:srgbClr val="FF0000"/>
                </a:solidFill>
              </a:rPr>
              <a:t>Stage 1 bootloader loads the second stage from disk into memory and jumps to it. (512 bytes)</a:t>
            </a:r>
            <a:endParaRPr lang="en-US" dirty="0">
              <a:solidFill>
                <a:srgbClr val="FF0000"/>
              </a:solidFill>
              <a:ea typeface="Calibri"/>
              <a:cs typeface="Calibri"/>
            </a:endParaRPr>
          </a:p>
          <a:p>
            <a:pPr marL="171450" indent="-171450">
              <a:buFont typeface="Calibri"/>
              <a:buChar char="-"/>
            </a:pPr>
            <a:r>
              <a:rPr lang="en-US" dirty="0">
                <a:solidFill>
                  <a:srgbClr val="FF0000"/>
                </a:solidFill>
              </a:rPr>
              <a:t>Stage 2 bootloader loads the kernel into memory, prepares the environment, and jumps to the kernel's entry point. (512 bytes+)</a:t>
            </a:r>
            <a:endParaRPr lang="en-US" dirty="0">
              <a:solidFill>
                <a:srgbClr val="FF0000"/>
              </a:solidFill>
              <a:ea typeface="Calibri"/>
              <a:cs typeface="Calibri"/>
            </a:endParaRPr>
          </a:p>
          <a:p>
            <a:pPr marL="171450" indent="-171450">
              <a:buFont typeface="Calibri"/>
              <a:buChar char="-"/>
            </a:pPr>
            <a:r>
              <a:rPr lang="en-US" dirty="0">
                <a:solidFill>
                  <a:srgbClr val="FF0000"/>
                </a:solidFill>
                <a:ea typeface="Calibri"/>
                <a:cs typeface="Calibri"/>
              </a:rPr>
              <a:t>Hard times: LBA - CHS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DCFEBC-38E9-4291-A71A-79FC6AB12D91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89559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a typeface="Calibri"/>
                <a:cs typeface="Calibri"/>
              </a:rPr>
              <a:t>What the project does – basically explain what build.sh does</a:t>
            </a:r>
          </a:p>
          <a:p>
            <a:r>
              <a:rPr lang="en-US" dirty="0">
                <a:ea typeface="Calibri"/>
                <a:cs typeface="Calibri"/>
              </a:rPr>
              <a:t>-create output directory for .bin files</a:t>
            </a:r>
          </a:p>
          <a:p>
            <a:r>
              <a:rPr lang="en-US" dirty="0">
                <a:ea typeface="Calibri"/>
                <a:cs typeface="Calibri"/>
              </a:rPr>
              <a:t>-assemble all assembly files with </a:t>
            </a:r>
            <a:r>
              <a:rPr lang="en-US" dirty="0" err="1">
                <a:ea typeface="Calibri"/>
                <a:cs typeface="Calibri"/>
              </a:rPr>
              <a:t>asm</a:t>
            </a:r>
            <a:r>
              <a:rPr lang="en-US" dirty="0">
                <a:ea typeface="Calibri"/>
                <a:cs typeface="Calibri"/>
              </a:rPr>
              <a:t> – the two stages of the bootloader and finally the kernel</a:t>
            </a:r>
            <a:br>
              <a:rPr lang="en-US" dirty="0">
                <a:ea typeface="Calibri"/>
                <a:cs typeface="+mn-lt"/>
              </a:rPr>
            </a:br>
            <a:r>
              <a:rPr lang="en-US" dirty="0">
                <a:ea typeface="Calibri"/>
                <a:cs typeface="Calibri"/>
              </a:rPr>
              <a:t>-</a:t>
            </a:r>
            <a:r>
              <a:rPr lang="en-US" dirty="0"/>
              <a:t>  Create a blank FAT12 floppy disk image ( after careful consideration , I chose FAT12 because it's easier for beginners to work with</a:t>
            </a:r>
            <a:endParaRPr lang="en-US" dirty="0">
              <a:ea typeface="Calibri"/>
              <a:cs typeface="Calibri"/>
            </a:endParaRPr>
          </a:p>
          <a:p>
            <a:pPr marL="171450" indent="-171450">
              <a:buFont typeface="Calibri"/>
              <a:buChar char="-"/>
            </a:pPr>
            <a:r>
              <a:rPr lang="en-US" dirty="0">
                <a:ea typeface="Calibri"/>
                <a:cs typeface="Calibri"/>
              </a:rPr>
              <a:t>Write to the newly created floppy – as expected the first stage goes in the 0th sector, and the second stage to sectors 2-5</a:t>
            </a:r>
          </a:p>
          <a:p>
            <a:pPr marL="171450" indent="-171450">
              <a:buFont typeface="Calibri"/>
              <a:buChar char="-"/>
            </a:pPr>
            <a:r>
              <a:rPr lang="en-US" dirty="0">
                <a:ea typeface="Calibri"/>
                <a:cs typeface="Calibri"/>
              </a:rPr>
              <a:t>Runs the floppy with an emulator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DCFEBC-38E9-4291-A71A-79FC6AB12D91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76432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DD129-A8C2-419E-B641-6CC90F5073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2000" y="1524000"/>
            <a:ext cx="10668000" cy="22860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B33C04-8A23-4499-A6EF-1D190F0FB3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0" y="4571999"/>
            <a:ext cx="10668000" cy="1524000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FA99FB-5674-4BC5-949F-8D45EC167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63CF93-DD67-4FE2-8083-864693FE8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05E934-32B6-44B1-9622-67F30BDA3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6861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6AF011-A499-4054-89BF-A4800A68F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6FB6E8-D956-45B5-9B4A-9D31DF466B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CDB9DB-9E62-4292-915C-1DD4134740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D462F1-BC30-4172-8353-363123A1DB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92EE8A-96DF-4D7D-B434-778324756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57355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28453A-F2B4-4EDB-B8FA-150267BC1A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24000"/>
            <a:ext cx="10668000" cy="3038475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C46C51-ADF1-48FC-A4D9-38C369E783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4589463"/>
            <a:ext cx="10668000" cy="150653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C43B56-4DC7-490B-AEFD-55ED1ECFF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4738F8-C4B2-41D8-B627-A6DDB24B2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F43D49-23F8-4C4B-9C30-EDC030EE6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65522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5556D-6916-42E6-8820-8A0D328A50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2747A5-C962-477F-89AA-A32385D579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62000" y="2285999"/>
            <a:ext cx="5151119" cy="38100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D08312-30FC-44D8-B2A9-B5CAAD9F06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78879" y="2285999"/>
            <a:ext cx="5151121" cy="38100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ED84EB-AF90-4F19-A376-0FE5E50F9E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838ED0-2789-41E4-A36E-83F92CA2E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221A83-6D60-45F0-9173-5F6D2438B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31534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FFAE2-03F4-4A94-86C4-9305B237CA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762000"/>
            <a:ext cx="10668000" cy="1524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BAC5A5-E184-46B6-8AB5-C8E132D362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2285999"/>
            <a:ext cx="5151119" cy="76199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DCFE87-5D80-45CB-9D13-DFC9AFCEC7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62000" y="3048000"/>
            <a:ext cx="5151119" cy="3048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AC1E5A-8423-4749-8EDA-E13425F696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78878" y="2286000"/>
            <a:ext cx="5151122" cy="76199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A832AAA-4BB8-4A3D-9C79-516F82F800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78878" y="3048000"/>
            <a:ext cx="5151122" cy="3048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80BEC63-51D3-4C70-B804-BE9EF765A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5CA295-8563-402F-92C3-1F20C977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FA5918-109D-4342-84C0-9774A52C9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0786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F2662-CBD1-4498-9B6E-2961F5EF1B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F739AE-8101-4C18-8CF3-911BDF397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EB1C88-D181-449C-9BE1-E85068C188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38A2C9-E93B-4F0A-A021-9E3AEBC3FA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99329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0AE8D9-9B42-438E-ADA6-CCFE457884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F792B9-A8AF-4E13-8A25-741E89691E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3A2CF6-DBC5-4491-B213-B3CD09D31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6626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727076-58C8-494C-B6B1-DC86F62DDC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761998"/>
            <a:ext cx="3810000" cy="1524002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F29E36-0340-452F-8D0A-1BC3F3A388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0" y="762001"/>
            <a:ext cx="6096000" cy="5334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051C2E-E587-45E8-BDB1-DFF2F2791B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62000" y="2286000"/>
            <a:ext cx="3810000" cy="381000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21D993-DEDD-470E-B48B-CB053A55A1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926C64-7401-4CA4-859F-74472AF869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108F41-F1F6-431C-9B45-8A447F188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15308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E104FB-422C-4023-9381-EB12F1582D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1" y="762000"/>
            <a:ext cx="3809999" cy="1524000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4DBA3AA-DE44-4B1F-91D1-09F67B89B94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334000" y="762001"/>
            <a:ext cx="6021388" cy="53340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27B131-5117-4106-80DB-2AB208C4C9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62001" y="2286000"/>
            <a:ext cx="3809999" cy="38100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13918A-7F23-4C72-8E80-591324A304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1071C8-76FE-4B83-8317-BD53C7C844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23681A-6F29-48FC-9409-319ED3E96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64254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BA5B09-FC60-445F-8A12-79869BEC60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A219F7-87F2-409F-BB0B-8FE9270C98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AC2BB8-59E0-4EB2-B3BE-59D8641EE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56984E-C0DE-461B-8011-8FC31B0EE9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FE7C03-68D3-445E-A5A2-8A935CFC97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96389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B21F0D7-112D-48B1-B32B-170B1AA2B5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43998" y="761999"/>
            <a:ext cx="2286000" cy="53340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27A7C1-8E5B-41DA-9802-F242D382B6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2001" y="761999"/>
            <a:ext cx="7619999" cy="53340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961CC7-F5B1-464A-8127-60645FB210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B94302-B381-4F37-A9FF-5CC551917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707151-541F-4104-B989-83A9DCA6E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4244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A6EF5A53-0A64-4CA5-B9C7-1CB97CB5CF1C}"/>
              </a:ext>
            </a:extLst>
          </p:cNvPr>
          <p:cNvSpPr/>
          <p:nvPr/>
        </p:nvSpPr>
        <p:spPr>
          <a:xfrm>
            <a:off x="8157843" y="6244836"/>
            <a:ext cx="4034156" cy="613164"/>
          </a:xfrm>
          <a:custGeom>
            <a:avLst/>
            <a:gdLst>
              <a:gd name="connsiteX0" fmla="*/ 1479137 w 4034156"/>
              <a:gd name="connsiteY0" fmla="*/ 230 h 613164"/>
              <a:gd name="connsiteX1" fmla="*/ 3482844 w 4034156"/>
              <a:gd name="connsiteY1" fmla="*/ 298555 h 613164"/>
              <a:gd name="connsiteX2" fmla="*/ 3831590 w 4034156"/>
              <a:gd name="connsiteY2" fmla="*/ 425010 h 613164"/>
              <a:gd name="connsiteX3" fmla="*/ 4034156 w 4034156"/>
              <a:gd name="connsiteY3" fmla="*/ 494088 h 613164"/>
              <a:gd name="connsiteX4" fmla="*/ 4034156 w 4034156"/>
              <a:gd name="connsiteY4" fmla="*/ 613164 h 613164"/>
              <a:gd name="connsiteX5" fmla="*/ 0 w 4034156"/>
              <a:gd name="connsiteY5" fmla="*/ 613164 h 613164"/>
              <a:gd name="connsiteX6" fmla="*/ 54792 w 4034156"/>
              <a:gd name="connsiteY6" fmla="*/ 512415 h 613164"/>
              <a:gd name="connsiteX7" fmla="*/ 168327 w 4034156"/>
              <a:gd name="connsiteY7" fmla="*/ 366637 h 613164"/>
              <a:gd name="connsiteX8" fmla="*/ 1192562 w 4034156"/>
              <a:gd name="connsiteY8" fmla="*/ 1522 h 613164"/>
              <a:gd name="connsiteX9" fmla="*/ 1479137 w 4034156"/>
              <a:gd name="connsiteY9" fmla="*/ 230 h 6131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034156" h="613164">
                <a:moveTo>
                  <a:pt x="1479137" y="230"/>
                </a:moveTo>
                <a:cubicBezTo>
                  <a:pt x="2152575" y="4287"/>
                  <a:pt x="2854487" y="63583"/>
                  <a:pt x="3482844" y="298555"/>
                </a:cubicBezTo>
                <a:cubicBezTo>
                  <a:pt x="3599338" y="342114"/>
                  <a:pt x="3715540" y="384216"/>
                  <a:pt x="3831590" y="425010"/>
                </a:cubicBezTo>
                <a:lnTo>
                  <a:pt x="4034156" y="494088"/>
                </a:lnTo>
                <a:lnTo>
                  <a:pt x="4034156" y="613164"/>
                </a:lnTo>
                <a:lnTo>
                  <a:pt x="0" y="613164"/>
                </a:lnTo>
                <a:lnTo>
                  <a:pt x="54792" y="512415"/>
                </a:lnTo>
                <a:cubicBezTo>
                  <a:pt x="88888" y="459433"/>
                  <a:pt x="126502" y="410480"/>
                  <a:pt x="168327" y="366637"/>
                </a:cubicBezTo>
                <a:cubicBezTo>
                  <a:pt x="428292" y="94062"/>
                  <a:pt x="821899" y="6565"/>
                  <a:pt x="1192562" y="1522"/>
                </a:cubicBezTo>
                <a:cubicBezTo>
                  <a:pt x="1287308" y="198"/>
                  <a:pt x="1382932" y="-349"/>
                  <a:pt x="1479137" y="23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 panose="020B0504020202020204" pitchFamily="34" charset="0"/>
              <a:ea typeface="+mn-ea"/>
              <a:cs typeface="+mn-cs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4ABFBEA-4EB0-4D02-A2C0-1733CD3D6F12}"/>
              </a:ext>
            </a:extLst>
          </p:cNvPr>
          <p:cNvSpPr/>
          <p:nvPr/>
        </p:nvSpPr>
        <p:spPr>
          <a:xfrm>
            <a:off x="1" y="688126"/>
            <a:ext cx="448491" cy="1634252"/>
          </a:xfrm>
          <a:custGeom>
            <a:avLst/>
            <a:gdLst>
              <a:gd name="connsiteX0" fmla="*/ 0 w 448491"/>
              <a:gd name="connsiteY0" fmla="*/ 0 h 1634252"/>
              <a:gd name="connsiteX1" fmla="*/ 12983 w 448491"/>
              <a:gd name="connsiteY1" fmla="*/ 10508 h 1634252"/>
              <a:gd name="connsiteX2" fmla="*/ 441611 w 448491"/>
              <a:gd name="connsiteY2" fmla="*/ 863751 h 1634252"/>
              <a:gd name="connsiteX3" fmla="*/ 251011 w 448491"/>
              <a:gd name="connsiteY3" fmla="*/ 1302895 h 1634252"/>
              <a:gd name="connsiteX4" fmla="*/ 74605 w 448491"/>
              <a:gd name="connsiteY4" fmla="*/ 1543249 h 1634252"/>
              <a:gd name="connsiteX5" fmla="*/ 0 w 448491"/>
              <a:gd name="connsiteY5" fmla="*/ 1634252 h 16342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8491" h="1634252">
                <a:moveTo>
                  <a:pt x="0" y="0"/>
                </a:moveTo>
                <a:lnTo>
                  <a:pt x="12983" y="10508"/>
                </a:lnTo>
                <a:cubicBezTo>
                  <a:pt x="278410" y="241022"/>
                  <a:pt x="489787" y="530267"/>
                  <a:pt x="441611" y="863751"/>
                </a:cubicBezTo>
                <a:cubicBezTo>
                  <a:pt x="418542" y="1022632"/>
                  <a:pt x="337007" y="1166302"/>
                  <a:pt x="251011" y="1302895"/>
                </a:cubicBezTo>
                <a:cubicBezTo>
                  <a:pt x="215138" y="1359902"/>
                  <a:pt x="154723" y="1442480"/>
                  <a:pt x="74605" y="1543249"/>
                </a:cubicBezTo>
                <a:lnTo>
                  <a:pt x="0" y="163425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900">
              <a:solidFill>
                <a:prstClr val="white"/>
              </a:solidFill>
              <a:latin typeface="Avenir Next LT Pro" panose="020B0504020202020204" pitchFamily="34" charset="0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9E083F6-57F4-487B-A766-EA0462B1EED8}"/>
              </a:ext>
            </a:extLst>
          </p:cNvPr>
          <p:cNvSpPr/>
          <p:nvPr/>
        </p:nvSpPr>
        <p:spPr>
          <a:xfrm>
            <a:off x="7309459" y="6144069"/>
            <a:ext cx="4418271" cy="718159"/>
          </a:xfrm>
          <a:custGeom>
            <a:avLst/>
            <a:gdLst>
              <a:gd name="connsiteX0" fmla="*/ 1421452 w 4590626"/>
              <a:gd name="connsiteY0" fmla="*/ 0 h 713930"/>
              <a:gd name="connsiteX1" fmla="*/ 3247781 w 4590626"/>
              <a:gd name="connsiteY1" fmla="*/ 271915 h 713930"/>
              <a:gd name="connsiteX2" fmla="*/ 4517331 w 4590626"/>
              <a:gd name="connsiteY2" fmla="*/ 693394 h 713930"/>
              <a:gd name="connsiteX3" fmla="*/ 4590626 w 4590626"/>
              <a:gd name="connsiteY3" fmla="*/ 713930 h 713930"/>
              <a:gd name="connsiteX4" fmla="*/ 0 w 4590626"/>
              <a:gd name="connsiteY4" fmla="*/ 713930 h 713930"/>
              <a:gd name="connsiteX5" fmla="*/ 2854 w 4590626"/>
              <a:gd name="connsiteY5" fmla="*/ 705624 h 713930"/>
              <a:gd name="connsiteX6" fmla="*/ 226680 w 4590626"/>
              <a:gd name="connsiteY6" fmla="*/ 333970 h 713930"/>
              <a:gd name="connsiteX7" fmla="*/ 1160245 w 4590626"/>
              <a:gd name="connsiteY7" fmla="*/ 1178 h 713930"/>
              <a:gd name="connsiteX8" fmla="*/ 1421452 w 4590626"/>
              <a:gd name="connsiteY8" fmla="*/ 0 h 713930"/>
              <a:gd name="connsiteX0" fmla="*/ 1421452 w 4517331"/>
              <a:gd name="connsiteY0" fmla="*/ 0 h 713930"/>
              <a:gd name="connsiteX1" fmla="*/ 3247781 w 4517331"/>
              <a:gd name="connsiteY1" fmla="*/ 271915 h 713930"/>
              <a:gd name="connsiteX2" fmla="*/ 4517331 w 4517331"/>
              <a:gd name="connsiteY2" fmla="*/ 693394 h 713930"/>
              <a:gd name="connsiteX3" fmla="*/ 0 w 4517331"/>
              <a:gd name="connsiteY3" fmla="*/ 713930 h 713930"/>
              <a:gd name="connsiteX4" fmla="*/ 2854 w 4517331"/>
              <a:gd name="connsiteY4" fmla="*/ 705624 h 713930"/>
              <a:gd name="connsiteX5" fmla="*/ 226680 w 4517331"/>
              <a:gd name="connsiteY5" fmla="*/ 333970 h 713930"/>
              <a:gd name="connsiteX6" fmla="*/ 1160245 w 4517331"/>
              <a:gd name="connsiteY6" fmla="*/ 1178 h 713930"/>
              <a:gd name="connsiteX7" fmla="*/ 1421452 w 4517331"/>
              <a:gd name="connsiteY7" fmla="*/ 0 h 713930"/>
              <a:gd name="connsiteX0" fmla="*/ 0 w 4608771"/>
              <a:gd name="connsiteY0" fmla="*/ 713930 h 784834"/>
              <a:gd name="connsiteX1" fmla="*/ 2854 w 4608771"/>
              <a:gd name="connsiteY1" fmla="*/ 705624 h 784834"/>
              <a:gd name="connsiteX2" fmla="*/ 226680 w 4608771"/>
              <a:gd name="connsiteY2" fmla="*/ 333970 h 784834"/>
              <a:gd name="connsiteX3" fmla="*/ 1160245 w 4608771"/>
              <a:gd name="connsiteY3" fmla="*/ 1178 h 784834"/>
              <a:gd name="connsiteX4" fmla="*/ 1421452 w 4608771"/>
              <a:gd name="connsiteY4" fmla="*/ 0 h 784834"/>
              <a:gd name="connsiteX5" fmla="*/ 3247781 w 4608771"/>
              <a:gd name="connsiteY5" fmla="*/ 271915 h 784834"/>
              <a:gd name="connsiteX6" fmla="*/ 4608771 w 4608771"/>
              <a:gd name="connsiteY6" fmla="*/ 784834 h 784834"/>
              <a:gd name="connsiteX0" fmla="*/ 0 w 4418271"/>
              <a:gd name="connsiteY0" fmla="*/ 713930 h 718159"/>
              <a:gd name="connsiteX1" fmla="*/ 2854 w 4418271"/>
              <a:gd name="connsiteY1" fmla="*/ 705624 h 718159"/>
              <a:gd name="connsiteX2" fmla="*/ 226680 w 4418271"/>
              <a:gd name="connsiteY2" fmla="*/ 333970 h 718159"/>
              <a:gd name="connsiteX3" fmla="*/ 1160245 w 4418271"/>
              <a:gd name="connsiteY3" fmla="*/ 1178 h 718159"/>
              <a:gd name="connsiteX4" fmla="*/ 1421452 w 4418271"/>
              <a:gd name="connsiteY4" fmla="*/ 0 h 718159"/>
              <a:gd name="connsiteX5" fmla="*/ 3247781 w 4418271"/>
              <a:gd name="connsiteY5" fmla="*/ 271915 h 718159"/>
              <a:gd name="connsiteX6" fmla="*/ 4418271 w 4418271"/>
              <a:gd name="connsiteY6" fmla="*/ 718159 h 7181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18271" h="718159">
                <a:moveTo>
                  <a:pt x="0" y="713930"/>
                </a:moveTo>
                <a:lnTo>
                  <a:pt x="2854" y="705624"/>
                </a:lnTo>
                <a:cubicBezTo>
                  <a:pt x="60059" y="562888"/>
                  <a:pt x="131373" y="433874"/>
                  <a:pt x="226680" y="333970"/>
                </a:cubicBezTo>
                <a:cubicBezTo>
                  <a:pt x="463632" y="85526"/>
                  <a:pt x="822395" y="5774"/>
                  <a:pt x="1160245" y="1178"/>
                </a:cubicBezTo>
                <a:lnTo>
                  <a:pt x="1421452" y="0"/>
                </a:lnTo>
                <a:cubicBezTo>
                  <a:pt x="2035274" y="3698"/>
                  <a:pt x="2748311" y="152222"/>
                  <a:pt x="3247781" y="271915"/>
                </a:cubicBezTo>
                <a:cubicBezTo>
                  <a:pt x="3747251" y="391608"/>
                  <a:pt x="3902480" y="501606"/>
                  <a:pt x="4418271" y="718159"/>
                </a:cubicBezTo>
              </a:path>
            </a:pathLst>
          </a:cu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 Light"/>
              <a:ea typeface="+mn-ea"/>
              <a:cs typeface="+mn-cs"/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3A2F988-7148-4375-83D8-12EE5EBC7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762000"/>
            <a:ext cx="106680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896238-C5B3-4F3C-97FA-890E1A51A2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2286000"/>
            <a:ext cx="10668000" cy="38180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6E4474-0442-4E4B-9E5B-CA7B3951C1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389165" y="194320"/>
            <a:ext cx="20408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  <a:alpha val="70000"/>
                  </a:schemeClr>
                </a:solidFill>
              </a:defRPr>
            </a:lvl1pPr>
          </a:lstStyle>
          <a:p>
            <a:fld id="{76969C88-B244-455D-A017-012B25B1ACDD}" type="datetimeFigureOut">
              <a:rPr lang="en-US" smtClean="0"/>
              <a:pPr/>
              <a:t>7/13/2025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626A98-F887-40E1-B9BA-9D93DE90E0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61999" y="6356350"/>
            <a:ext cx="66128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2C8119-73F6-4713-9AD3-3628DCDFB8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06000" y="6356350"/>
            <a:ext cx="1524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  <a:alpha val="70000"/>
                  </a:schemeClr>
                </a:solidFill>
              </a:defRPr>
            </a:lvl1pPr>
          </a:lstStyle>
          <a:p>
            <a:fld id="{07CE569E-9B7C-4CB9-AB80-C0841F922CF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834646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4" r:id="rId3"/>
    <p:sldLayoutId id="2147483735" r:id="rId4"/>
    <p:sldLayoutId id="2147483736" r:id="rId5"/>
    <p:sldLayoutId id="2147483730" r:id="rId6"/>
    <p:sldLayoutId id="2147483726" r:id="rId7"/>
    <p:sldLayoutId id="2147483727" r:id="rId8"/>
    <p:sldLayoutId id="2147483728" r:id="rId9"/>
    <p:sldLayoutId id="2147483729" r:id="rId10"/>
    <p:sldLayoutId id="214748373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5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A18C9FB-EC4C-4DAE-8F7D-C6E5AF6079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05887" y="1150189"/>
            <a:ext cx="5334000" cy="2286000"/>
          </a:xfrm>
        </p:spPr>
        <p:txBody>
          <a:bodyPr>
            <a:normAutofit/>
          </a:bodyPr>
          <a:lstStyle/>
          <a:p>
            <a:pPr algn="l"/>
            <a:r>
              <a:rPr lang="en-US" sz="4400" noProof="1"/>
              <a:t>Проектна</a:t>
            </a:r>
            <a:r>
              <a:rPr lang="en-US" sz="4400" dirty="0"/>
              <a:t> </a:t>
            </a:r>
            <a:r>
              <a:rPr lang="en-US" sz="4400" dirty="0" err="1"/>
              <a:t>Практика</a:t>
            </a:r>
            <a:endParaRPr lang="en-US" sz="44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05886" y="3694980"/>
            <a:ext cx="5333999" cy="1524000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en-US" dirty="0" err="1">
                <a:solidFill>
                  <a:srgbClr val="FFFFFF">
                    <a:alpha val="70000"/>
                  </a:srgbClr>
                </a:solidFill>
              </a:rPr>
              <a:t>Емма</a:t>
            </a:r>
            <a:r>
              <a:rPr lang="en-US" dirty="0">
                <a:solidFill>
                  <a:srgbClr val="FFFFFF">
                    <a:alpha val="70000"/>
                  </a:srgbClr>
                </a:solidFill>
              </a:rPr>
              <a:t> </a:t>
            </a:r>
            <a:r>
              <a:rPr lang="en-US" dirty="0" err="1">
                <a:solidFill>
                  <a:srgbClr val="FFFFFF">
                    <a:alpha val="70000"/>
                  </a:srgbClr>
                </a:solidFill>
              </a:rPr>
              <a:t>Георгиева</a:t>
            </a:r>
            <a:r>
              <a:rPr lang="en-US" dirty="0">
                <a:solidFill>
                  <a:srgbClr val="FFFFFF">
                    <a:alpha val="70000"/>
                  </a:srgbClr>
                </a:solidFill>
              </a:rPr>
              <a:t> , 11клас 2025</a:t>
            </a:r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198DD8E9-519B-43B1-96FF-0286B62D70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43802" y="832508"/>
            <a:ext cx="4448352" cy="6025492"/>
          </a:xfrm>
          <a:custGeom>
            <a:avLst/>
            <a:gdLst>
              <a:gd name="connsiteX0" fmla="*/ 3173139 w 4448352"/>
              <a:gd name="connsiteY0" fmla="*/ 74 h 6025492"/>
              <a:gd name="connsiteX1" fmla="*/ 3840337 w 4448352"/>
              <a:gd name="connsiteY1" fmla="*/ 136997 h 6025492"/>
              <a:gd name="connsiteX2" fmla="*/ 4400480 w 4448352"/>
              <a:gd name="connsiteY2" fmla="*/ 1061406 h 6025492"/>
              <a:gd name="connsiteX3" fmla="*/ 3812207 w 4448352"/>
              <a:gd name="connsiteY3" fmla="*/ 2268177 h 6025492"/>
              <a:gd name="connsiteX4" fmla="*/ 2566852 w 4448352"/>
              <a:gd name="connsiteY4" fmla="*/ 4362395 h 6025492"/>
              <a:gd name="connsiteX5" fmla="*/ 1381603 w 4448352"/>
              <a:gd name="connsiteY5" fmla="*/ 6002073 h 6025492"/>
              <a:gd name="connsiteX6" fmla="*/ 1358105 w 4448352"/>
              <a:gd name="connsiteY6" fmla="*/ 6025492 h 6025492"/>
              <a:gd name="connsiteX7" fmla="*/ 147593 w 4448352"/>
              <a:gd name="connsiteY7" fmla="*/ 6025492 h 6025492"/>
              <a:gd name="connsiteX8" fmla="*/ 135095 w 4448352"/>
              <a:gd name="connsiteY8" fmla="*/ 5970139 h 6025492"/>
              <a:gd name="connsiteX9" fmla="*/ 989 w 4448352"/>
              <a:gd name="connsiteY9" fmla="*/ 3558990 h 6025492"/>
              <a:gd name="connsiteX10" fmla="*/ 134613 w 4448352"/>
              <a:gd name="connsiteY10" fmla="*/ 2769335 h 6025492"/>
              <a:gd name="connsiteX11" fmla="*/ 812398 w 4448352"/>
              <a:gd name="connsiteY11" fmla="*/ 1669996 h 6025492"/>
              <a:gd name="connsiteX12" fmla="*/ 1830565 w 4448352"/>
              <a:gd name="connsiteY12" fmla="*/ 638164 h 6025492"/>
              <a:gd name="connsiteX13" fmla="*/ 3173139 w 4448352"/>
              <a:gd name="connsiteY13" fmla="*/ 74 h 60254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448352" h="6025492">
                <a:moveTo>
                  <a:pt x="3173139" y="74"/>
                </a:moveTo>
                <a:cubicBezTo>
                  <a:pt x="3404376" y="2427"/>
                  <a:pt x="3621702" y="61078"/>
                  <a:pt x="3840337" y="136997"/>
                </a:cubicBezTo>
                <a:cubicBezTo>
                  <a:pt x="4230681" y="272614"/>
                  <a:pt x="4578505" y="404218"/>
                  <a:pt x="4400480" y="1061406"/>
                </a:cubicBezTo>
                <a:cubicBezTo>
                  <a:pt x="4294008" y="1454598"/>
                  <a:pt x="4050152" y="1868133"/>
                  <a:pt x="3812207" y="2268177"/>
                </a:cubicBezTo>
                <a:cubicBezTo>
                  <a:pt x="3397090" y="2966250"/>
                  <a:pt x="2981970" y="3664324"/>
                  <a:pt x="2566852" y="4362395"/>
                </a:cubicBezTo>
                <a:cubicBezTo>
                  <a:pt x="2261941" y="4875091"/>
                  <a:pt x="1813643" y="5542665"/>
                  <a:pt x="1381603" y="6002073"/>
                </a:cubicBezTo>
                <a:lnTo>
                  <a:pt x="1358105" y="6025492"/>
                </a:lnTo>
                <a:lnTo>
                  <a:pt x="147593" y="6025492"/>
                </a:lnTo>
                <a:lnTo>
                  <a:pt x="135095" y="5970139"/>
                </a:lnTo>
                <a:cubicBezTo>
                  <a:pt x="3334" y="5264474"/>
                  <a:pt x="25734" y="4338079"/>
                  <a:pt x="989" y="3558990"/>
                </a:cubicBezTo>
                <a:cubicBezTo>
                  <a:pt x="-7696" y="3286585"/>
                  <a:pt x="41149" y="3024098"/>
                  <a:pt x="134613" y="2769335"/>
                </a:cubicBezTo>
                <a:cubicBezTo>
                  <a:pt x="274734" y="2387350"/>
                  <a:pt x="515201" y="2023048"/>
                  <a:pt x="812398" y="1669996"/>
                </a:cubicBezTo>
                <a:cubicBezTo>
                  <a:pt x="1109596" y="1316945"/>
                  <a:pt x="1463524" y="975145"/>
                  <a:pt x="1830565" y="638164"/>
                </a:cubicBezTo>
                <a:cubicBezTo>
                  <a:pt x="2363706" y="148617"/>
                  <a:pt x="2787743" y="-3847"/>
                  <a:pt x="3173139" y="74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6CCD7EBD-BBF4-47CF-B72E-8F2C476B33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8197" y="533400"/>
            <a:ext cx="5085498" cy="6329048"/>
          </a:xfrm>
          <a:custGeom>
            <a:avLst/>
            <a:gdLst>
              <a:gd name="connsiteX0" fmla="*/ 3173139 w 4448352"/>
              <a:gd name="connsiteY0" fmla="*/ 74 h 6025492"/>
              <a:gd name="connsiteX1" fmla="*/ 3840337 w 4448352"/>
              <a:gd name="connsiteY1" fmla="*/ 136997 h 6025492"/>
              <a:gd name="connsiteX2" fmla="*/ 4400480 w 4448352"/>
              <a:gd name="connsiteY2" fmla="*/ 1061406 h 6025492"/>
              <a:gd name="connsiteX3" fmla="*/ 3812207 w 4448352"/>
              <a:gd name="connsiteY3" fmla="*/ 2268177 h 6025492"/>
              <a:gd name="connsiteX4" fmla="*/ 2566852 w 4448352"/>
              <a:gd name="connsiteY4" fmla="*/ 4362395 h 6025492"/>
              <a:gd name="connsiteX5" fmla="*/ 1381603 w 4448352"/>
              <a:gd name="connsiteY5" fmla="*/ 6002073 h 6025492"/>
              <a:gd name="connsiteX6" fmla="*/ 1358105 w 4448352"/>
              <a:gd name="connsiteY6" fmla="*/ 6025492 h 6025492"/>
              <a:gd name="connsiteX7" fmla="*/ 147593 w 4448352"/>
              <a:gd name="connsiteY7" fmla="*/ 6025492 h 6025492"/>
              <a:gd name="connsiteX8" fmla="*/ 135095 w 4448352"/>
              <a:gd name="connsiteY8" fmla="*/ 5970139 h 6025492"/>
              <a:gd name="connsiteX9" fmla="*/ 989 w 4448352"/>
              <a:gd name="connsiteY9" fmla="*/ 3558990 h 6025492"/>
              <a:gd name="connsiteX10" fmla="*/ 134613 w 4448352"/>
              <a:gd name="connsiteY10" fmla="*/ 2769335 h 6025492"/>
              <a:gd name="connsiteX11" fmla="*/ 812398 w 4448352"/>
              <a:gd name="connsiteY11" fmla="*/ 1669996 h 6025492"/>
              <a:gd name="connsiteX12" fmla="*/ 1830565 w 4448352"/>
              <a:gd name="connsiteY12" fmla="*/ 638164 h 6025492"/>
              <a:gd name="connsiteX13" fmla="*/ 3173139 w 4448352"/>
              <a:gd name="connsiteY13" fmla="*/ 74 h 6025492"/>
              <a:gd name="connsiteX0" fmla="*/ 147593 w 4448352"/>
              <a:gd name="connsiteY0" fmla="*/ 6025492 h 6112608"/>
              <a:gd name="connsiteX1" fmla="*/ 135095 w 4448352"/>
              <a:gd name="connsiteY1" fmla="*/ 5970139 h 6112608"/>
              <a:gd name="connsiteX2" fmla="*/ 989 w 4448352"/>
              <a:gd name="connsiteY2" fmla="*/ 3558990 h 6112608"/>
              <a:gd name="connsiteX3" fmla="*/ 134613 w 4448352"/>
              <a:gd name="connsiteY3" fmla="*/ 2769335 h 6112608"/>
              <a:gd name="connsiteX4" fmla="*/ 812398 w 4448352"/>
              <a:gd name="connsiteY4" fmla="*/ 1669996 h 6112608"/>
              <a:gd name="connsiteX5" fmla="*/ 1830565 w 4448352"/>
              <a:gd name="connsiteY5" fmla="*/ 638164 h 6112608"/>
              <a:gd name="connsiteX6" fmla="*/ 3173139 w 4448352"/>
              <a:gd name="connsiteY6" fmla="*/ 74 h 6112608"/>
              <a:gd name="connsiteX7" fmla="*/ 3840337 w 4448352"/>
              <a:gd name="connsiteY7" fmla="*/ 136997 h 6112608"/>
              <a:gd name="connsiteX8" fmla="*/ 4400480 w 4448352"/>
              <a:gd name="connsiteY8" fmla="*/ 1061406 h 6112608"/>
              <a:gd name="connsiteX9" fmla="*/ 3812207 w 4448352"/>
              <a:gd name="connsiteY9" fmla="*/ 2268177 h 6112608"/>
              <a:gd name="connsiteX10" fmla="*/ 2566852 w 4448352"/>
              <a:gd name="connsiteY10" fmla="*/ 4362395 h 6112608"/>
              <a:gd name="connsiteX11" fmla="*/ 1381603 w 4448352"/>
              <a:gd name="connsiteY11" fmla="*/ 6002073 h 6112608"/>
              <a:gd name="connsiteX12" fmla="*/ 1457187 w 4448352"/>
              <a:gd name="connsiteY12" fmla="*/ 6112608 h 6112608"/>
              <a:gd name="connsiteX0" fmla="*/ 147593 w 4448352"/>
              <a:gd name="connsiteY0" fmla="*/ 6025492 h 6025492"/>
              <a:gd name="connsiteX1" fmla="*/ 135095 w 4448352"/>
              <a:gd name="connsiteY1" fmla="*/ 5970139 h 6025492"/>
              <a:gd name="connsiteX2" fmla="*/ 989 w 4448352"/>
              <a:gd name="connsiteY2" fmla="*/ 3558990 h 6025492"/>
              <a:gd name="connsiteX3" fmla="*/ 134613 w 4448352"/>
              <a:gd name="connsiteY3" fmla="*/ 2769335 h 6025492"/>
              <a:gd name="connsiteX4" fmla="*/ 812398 w 4448352"/>
              <a:gd name="connsiteY4" fmla="*/ 1669996 h 6025492"/>
              <a:gd name="connsiteX5" fmla="*/ 1830565 w 4448352"/>
              <a:gd name="connsiteY5" fmla="*/ 638164 h 6025492"/>
              <a:gd name="connsiteX6" fmla="*/ 3173139 w 4448352"/>
              <a:gd name="connsiteY6" fmla="*/ 74 h 6025492"/>
              <a:gd name="connsiteX7" fmla="*/ 3840337 w 4448352"/>
              <a:gd name="connsiteY7" fmla="*/ 136997 h 6025492"/>
              <a:gd name="connsiteX8" fmla="*/ 4400480 w 4448352"/>
              <a:gd name="connsiteY8" fmla="*/ 1061406 h 6025492"/>
              <a:gd name="connsiteX9" fmla="*/ 3812207 w 4448352"/>
              <a:gd name="connsiteY9" fmla="*/ 2268177 h 6025492"/>
              <a:gd name="connsiteX10" fmla="*/ 2566852 w 4448352"/>
              <a:gd name="connsiteY10" fmla="*/ 4362395 h 6025492"/>
              <a:gd name="connsiteX11" fmla="*/ 1381603 w 4448352"/>
              <a:gd name="connsiteY11" fmla="*/ 6002073 h 6025492"/>
              <a:gd name="connsiteX0" fmla="*/ 147593 w 4448352"/>
              <a:gd name="connsiteY0" fmla="*/ 6025492 h 6029730"/>
              <a:gd name="connsiteX1" fmla="*/ 135095 w 4448352"/>
              <a:gd name="connsiteY1" fmla="*/ 5970139 h 6029730"/>
              <a:gd name="connsiteX2" fmla="*/ 989 w 4448352"/>
              <a:gd name="connsiteY2" fmla="*/ 3558990 h 6029730"/>
              <a:gd name="connsiteX3" fmla="*/ 134613 w 4448352"/>
              <a:gd name="connsiteY3" fmla="*/ 2769335 h 6029730"/>
              <a:gd name="connsiteX4" fmla="*/ 812398 w 4448352"/>
              <a:gd name="connsiteY4" fmla="*/ 1669996 h 6029730"/>
              <a:gd name="connsiteX5" fmla="*/ 1830565 w 4448352"/>
              <a:gd name="connsiteY5" fmla="*/ 638164 h 6029730"/>
              <a:gd name="connsiteX6" fmla="*/ 3173139 w 4448352"/>
              <a:gd name="connsiteY6" fmla="*/ 74 h 6029730"/>
              <a:gd name="connsiteX7" fmla="*/ 3840337 w 4448352"/>
              <a:gd name="connsiteY7" fmla="*/ 136997 h 6029730"/>
              <a:gd name="connsiteX8" fmla="*/ 4400480 w 4448352"/>
              <a:gd name="connsiteY8" fmla="*/ 1061406 h 6029730"/>
              <a:gd name="connsiteX9" fmla="*/ 3812207 w 4448352"/>
              <a:gd name="connsiteY9" fmla="*/ 2268177 h 6029730"/>
              <a:gd name="connsiteX10" fmla="*/ 2566852 w 4448352"/>
              <a:gd name="connsiteY10" fmla="*/ 4362395 h 6029730"/>
              <a:gd name="connsiteX11" fmla="*/ 1397330 w 4448352"/>
              <a:gd name="connsiteY11" fmla="*/ 6029730 h 60297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448352" h="6029730">
                <a:moveTo>
                  <a:pt x="147593" y="6025492"/>
                </a:moveTo>
                <a:lnTo>
                  <a:pt x="135095" y="5970139"/>
                </a:lnTo>
                <a:cubicBezTo>
                  <a:pt x="3334" y="5264474"/>
                  <a:pt x="25734" y="4338079"/>
                  <a:pt x="989" y="3558990"/>
                </a:cubicBezTo>
                <a:cubicBezTo>
                  <a:pt x="-7696" y="3286585"/>
                  <a:pt x="41149" y="3024098"/>
                  <a:pt x="134613" y="2769335"/>
                </a:cubicBezTo>
                <a:cubicBezTo>
                  <a:pt x="274734" y="2387350"/>
                  <a:pt x="515201" y="2023048"/>
                  <a:pt x="812398" y="1669996"/>
                </a:cubicBezTo>
                <a:cubicBezTo>
                  <a:pt x="1109596" y="1316945"/>
                  <a:pt x="1463524" y="975145"/>
                  <a:pt x="1830565" y="638164"/>
                </a:cubicBezTo>
                <a:cubicBezTo>
                  <a:pt x="2363706" y="148617"/>
                  <a:pt x="2787743" y="-3847"/>
                  <a:pt x="3173139" y="74"/>
                </a:cubicBezTo>
                <a:cubicBezTo>
                  <a:pt x="3404376" y="2427"/>
                  <a:pt x="3621702" y="61078"/>
                  <a:pt x="3840337" y="136997"/>
                </a:cubicBezTo>
                <a:cubicBezTo>
                  <a:pt x="4230681" y="272614"/>
                  <a:pt x="4578505" y="404218"/>
                  <a:pt x="4400480" y="1061406"/>
                </a:cubicBezTo>
                <a:cubicBezTo>
                  <a:pt x="4294008" y="1454598"/>
                  <a:pt x="4050152" y="1868133"/>
                  <a:pt x="3812207" y="2268177"/>
                </a:cubicBezTo>
                <a:cubicBezTo>
                  <a:pt x="3397089" y="2966250"/>
                  <a:pt x="2969331" y="3735470"/>
                  <a:pt x="2566852" y="4362395"/>
                </a:cubicBezTo>
                <a:cubicBezTo>
                  <a:pt x="2164373" y="4989320"/>
                  <a:pt x="1829370" y="5570322"/>
                  <a:pt x="1397330" y="6029730"/>
                </a:cubicBezTo>
              </a:path>
            </a:pathLst>
          </a:custGeom>
          <a:noFill/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prstClr val="white"/>
              </a:solidFill>
              <a:latin typeface="Avenir Next LT Pro Light"/>
            </a:endParaRP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63E24A-9304-EEB7-0513-E6FE910913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849" y="718868"/>
            <a:ext cx="10969924" cy="1452114"/>
          </a:xfrm>
        </p:spPr>
        <p:txBody>
          <a:bodyPr/>
          <a:lstStyle/>
          <a:p>
            <a:r>
              <a:rPr lang="en-US" dirty="0"/>
              <a:t>Disk VS RAM VS CPU and how they interact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E5D8BAA-3F28-2D19-A791-A2AECFF8B38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27511976"/>
              </p:ext>
            </p:extLst>
          </p:nvPr>
        </p:nvGraphicFramePr>
        <p:xfrm>
          <a:off x="762000" y="2170981"/>
          <a:ext cx="10668000" cy="3916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7000">
                  <a:extLst>
                    <a:ext uri="{9D8B030D-6E8A-4147-A177-3AD203B41FA5}">
                      <a16:colId xmlns:a16="http://schemas.microsoft.com/office/drawing/2014/main" val="1119607491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3169301420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651713856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3883405602"/>
                    </a:ext>
                  </a:extLst>
                </a:gridCol>
              </a:tblGrid>
              <a:tr h="783236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1" i="0" u="none" strike="noStrike" kern="1200" baseline="0" noProof="0" dirty="0">
                          <a:solidFill>
                            <a:srgbClr val="FFFFFF"/>
                          </a:solidFill>
                          <a:latin typeface="Avenir Next LT Pro"/>
                          <a:ea typeface="+mn-ea"/>
                          <a:cs typeface="+mn-cs"/>
                        </a:rPr>
                        <a:t>Purpose</a:t>
                      </a:r>
                      <a:endParaRPr lang="en-US" sz="1800" b="1" i="0" u="none" strike="noStrike" kern="1200" baseline="0" dirty="0">
                        <a:solidFill>
                          <a:srgbClr val="FFFFFF"/>
                        </a:solidFill>
                        <a:latin typeface="Avenir Next LT Pro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1" i="0" u="none" strike="noStrike" kern="1200" baseline="0" noProof="0" dirty="0">
                          <a:solidFill>
                            <a:srgbClr val="FFFFFF"/>
                          </a:solidFill>
                          <a:latin typeface="Avenir Next LT Pro"/>
                          <a:ea typeface="+mn-ea"/>
                          <a:cs typeface="+mn-cs"/>
                        </a:rPr>
                        <a:t>Long-term storage</a:t>
                      </a:r>
                      <a:endParaRPr lang="en-US" sz="1800" b="1" i="0" u="none" strike="noStrike" kern="1200" baseline="0" dirty="0">
                        <a:solidFill>
                          <a:srgbClr val="FFFFFF"/>
                        </a:solidFill>
                        <a:latin typeface="Avenir Next LT Pro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1" i="0" u="none" strike="noStrike" kern="1200" baseline="0" noProof="0" dirty="0">
                          <a:solidFill>
                            <a:srgbClr val="FFFFFF"/>
                          </a:solidFill>
                          <a:latin typeface="Avenir Next LT Pro"/>
                          <a:ea typeface="+mn-ea"/>
                          <a:cs typeface="+mn-cs"/>
                        </a:rPr>
                        <a:t>Short-term data access</a:t>
                      </a:r>
                      <a:endParaRPr lang="en-US" sz="1800" b="1" i="0" u="none" strike="noStrike" kern="1200" baseline="0" dirty="0">
                        <a:solidFill>
                          <a:srgbClr val="FFFFFF"/>
                        </a:solidFill>
                        <a:latin typeface="Avenir Next LT Pro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1" i="0" u="none" strike="noStrike" kern="1200" baseline="0" noProof="0" dirty="0">
                          <a:solidFill>
                            <a:srgbClr val="FFFFFF"/>
                          </a:solidFill>
                          <a:latin typeface="Avenir Next LT Pro"/>
                          <a:ea typeface="+mn-ea"/>
                          <a:cs typeface="+mn-cs"/>
                        </a:rPr>
                        <a:t>Executes instructions</a:t>
                      </a:r>
                      <a:endParaRPr lang="en-US" sz="1800" b="1" i="0" u="none" strike="noStrike" kern="1200" baseline="0" dirty="0">
                        <a:solidFill>
                          <a:srgbClr val="FFFFFF"/>
                        </a:solidFill>
                        <a:latin typeface="Avenir Next LT Pro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1391114"/>
                  </a:ext>
                </a:extLst>
              </a:tr>
              <a:tr h="783236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1" i="0" u="none" strike="noStrike" kern="1200" noProof="0" dirty="0">
                          <a:solidFill>
                            <a:schemeClr val="dk1"/>
                          </a:solidFill>
                          <a:latin typeface="Avenir Next LT Pro"/>
                          <a:ea typeface="+mn-ea"/>
                          <a:cs typeface="+mn-cs"/>
                        </a:rPr>
                        <a:t>Volatility</a:t>
                      </a:r>
                      <a:endParaRPr lang="en-US" sz="1800" b="1" i="0" u="none" strike="noStrike" kern="1200" dirty="0">
                        <a:solidFill>
                          <a:schemeClr val="dk1"/>
                        </a:solidFill>
                        <a:latin typeface="Avenir Next LT Pro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kern="1200" noProof="0" dirty="0">
                          <a:solidFill>
                            <a:schemeClr val="dk1"/>
                          </a:solidFill>
                          <a:latin typeface="Avenir Next LT Pro"/>
                          <a:ea typeface="+mn-ea"/>
                          <a:cs typeface="+mn-cs"/>
                        </a:rPr>
                        <a:t>Non-volatile (data persists)</a:t>
                      </a:r>
                      <a:endParaRPr lang="en-US" sz="1800" b="0" i="0" u="none" strike="noStrike" kern="1200" dirty="0">
                        <a:solidFill>
                          <a:schemeClr val="dk1"/>
                        </a:solidFill>
                        <a:latin typeface="Avenir Next LT Pro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kern="1200" noProof="0" dirty="0">
                          <a:solidFill>
                            <a:schemeClr val="dk1"/>
                          </a:solidFill>
                          <a:latin typeface="Avenir Next LT Pro"/>
                          <a:ea typeface="+mn-ea"/>
                          <a:cs typeface="+mn-cs"/>
                        </a:rPr>
                        <a:t>Volatile (data lost on power-off)</a:t>
                      </a:r>
                      <a:endParaRPr lang="en-US" sz="1800" b="0" i="0" u="none" strike="noStrike" kern="1200" dirty="0">
                        <a:solidFill>
                          <a:schemeClr val="dk1"/>
                        </a:solidFill>
                        <a:latin typeface="Avenir Next LT Pro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kern="1200" noProof="0" dirty="0">
                          <a:solidFill>
                            <a:schemeClr val="dk1"/>
                          </a:solidFill>
                          <a:latin typeface="Avenir Next LT Pro"/>
                          <a:ea typeface="+mn-ea"/>
                          <a:cs typeface="+mn-cs"/>
                        </a:rPr>
                        <a:t>Not memory; uses registers</a:t>
                      </a:r>
                      <a:endParaRPr lang="en-US" sz="1800" b="0" i="0" u="none" strike="noStrike" kern="1200" dirty="0">
                        <a:solidFill>
                          <a:schemeClr val="dk1"/>
                        </a:solidFill>
                        <a:latin typeface="Avenir Next LT Pro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0422082"/>
                  </a:ext>
                </a:extLst>
              </a:tr>
              <a:tr h="783236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1" i="0" u="none" strike="noStrike" kern="1200" noProof="0" dirty="0">
                          <a:solidFill>
                            <a:schemeClr val="dk1"/>
                          </a:solidFill>
                          <a:latin typeface="Avenir Next LT Pro"/>
                          <a:ea typeface="+mn-ea"/>
                          <a:cs typeface="+mn-cs"/>
                        </a:rPr>
                        <a:t>Stores</a:t>
                      </a:r>
                      <a:endParaRPr lang="en-US" sz="1800" b="1" i="0" u="none" strike="noStrike" kern="1200" dirty="0">
                        <a:solidFill>
                          <a:schemeClr val="dk1"/>
                        </a:solidFill>
                        <a:latin typeface="Avenir Next LT Pro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kern="1200" noProof="0" dirty="0">
                          <a:solidFill>
                            <a:schemeClr val="dk1"/>
                          </a:solidFill>
                          <a:latin typeface="Avenir Next LT Pro"/>
                          <a:ea typeface="+mn-ea"/>
                          <a:cs typeface="+mn-cs"/>
                        </a:rPr>
                        <a:t>Files, OS, programs</a:t>
                      </a:r>
                      <a:endParaRPr lang="en-US" sz="1800" b="0" i="0" u="none" strike="noStrike" kern="1200" dirty="0">
                        <a:solidFill>
                          <a:schemeClr val="dk1"/>
                        </a:solidFill>
                        <a:latin typeface="Avenir Next LT Pro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latin typeface="Avenir Next LT Pro"/>
                          <a:ea typeface="+mn-ea"/>
                          <a:cs typeface="+mn-cs"/>
                        </a:rPr>
                        <a:t>Active program data</a:t>
                      </a:r>
                    </a:p>
                    <a:p>
                      <a:pPr lvl="0">
                        <a:buNone/>
                      </a:pPr>
                      <a:endParaRPr lang="en-US" sz="1800" b="0" i="0" u="none" strike="noStrike" kern="1200" dirty="0">
                        <a:solidFill>
                          <a:schemeClr val="dk1"/>
                        </a:solidFill>
                        <a:latin typeface="Avenir Next LT Pro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kern="1200" noProof="0" dirty="0">
                          <a:solidFill>
                            <a:schemeClr val="dk1"/>
                          </a:solidFill>
                          <a:latin typeface="Avenir Next LT Pro"/>
                          <a:ea typeface="+mn-ea"/>
                          <a:cs typeface="+mn-cs"/>
                        </a:rPr>
                        <a:t>Temporary values (registers)</a:t>
                      </a:r>
                      <a:endParaRPr lang="en-US" sz="1800" b="0" i="0" u="none" strike="noStrike" kern="1200" dirty="0">
                        <a:solidFill>
                          <a:schemeClr val="dk1"/>
                        </a:solidFill>
                        <a:latin typeface="Avenir Next LT Pro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8124473"/>
                  </a:ext>
                </a:extLst>
              </a:tr>
              <a:tr h="783236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1" i="0" u="none" strike="noStrike" kern="1200" noProof="0" dirty="0">
                          <a:solidFill>
                            <a:schemeClr val="dk1"/>
                          </a:solidFill>
                          <a:latin typeface="Avenir Next LT Pro"/>
                          <a:ea typeface="+mn-ea"/>
                          <a:cs typeface="+mn-cs"/>
                        </a:rPr>
                        <a:t>Access Type</a:t>
                      </a:r>
                      <a:endParaRPr lang="en-US" sz="1800" b="1" i="0" u="none" strike="noStrike" kern="1200" dirty="0">
                        <a:solidFill>
                          <a:schemeClr val="dk1"/>
                        </a:solidFill>
                        <a:latin typeface="Avenir Next LT Pro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kern="1200" noProof="0" dirty="0">
                          <a:solidFill>
                            <a:schemeClr val="dk1"/>
                          </a:solidFill>
                          <a:latin typeface="Avenir Next LT Pro"/>
                          <a:ea typeface="+mn-ea"/>
                          <a:cs typeface="+mn-cs"/>
                        </a:rPr>
                        <a:t>Block/sector-based</a:t>
                      </a:r>
                      <a:endParaRPr lang="en-US" sz="1800" b="0" i="0" u="none" strike="noStrike" kern="1200" dirty="0">
                        <a:solidFill>
                          <a:schemeClr val="dk1"/>
                        </a:solidFill>
                        <a:latin typeface="Avenir Next LT Pro"/>
                        <a:ea typeface="+mn-ea"/>
                        <a:cs typeface="+mn-cs"/>
                      </a:endParaRPr>
                    </a:p>
                    <a:p>
                      <a:pPr lvl="0">
                        <a:buNone/>
                      </a:pPr>
                      <a:endParaRPr lang="en-US" sz="1800" b="0" i="0" u="none" strike="noStrike" kern="1200" dirty="0">
                        <a:solidFill>
                          <a:schemeClr val="dk1"/>
                        </a:solidFill>
                        <a:latin typeface="Avenir Next LT Pro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kern="1200" noProof="0" dirty="0">
                          <a:solidFill>
                            <a:schemeClr val="dk1"/>
                          </a:solidFill>
                          <a:latin typeface="Avenir Next LT Pro"/>
                          <a:ea typeface="+mn-ea"/>
                          <a:cs typeface="+mn-cs"/>
                        </a:rPr>
                        <a:t>Byte-addressable</a:t>
                      </a:r>
                      <a:endParaRPr lang="en-US" sz="1800" b="0" i="0" u="none" strike="noStrike" kern="1200" dirty="0">
                        <a:solidFill>
                          <a:schemeClr val="dk1"/>
                        </a:solidFill>
                        <a:latin typeface="Avenir Next LT Pro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kern="1200" noProof="0" dirty="0">
                          <a:solidFill>
                            <a:schemeClr val="dk1"/>
                          </a:solidFill>
                          <a:latin typeface="Avenir Next LT Pro"/>
                          <a:ea typeface="+mn-ea"/>
                          <a:cs typeface="+mn-cs"/>
                        </a:rPr>
                        <a:t>Instruction-based execution</a:t>
                      </a:r>
                      <a:endParaRPr lang="en-US" sz="1800" b="0" i="0" u="none" strike="noStrike" kern="1200" dirty="0">
                        <a:solidFill>
                          <a:schemeClr val="dk1"/>
                        </a:solidFill>
                        <a:latin typeface="Avenir Next LT Pro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0393416"/>
                  </a:ext>
                </a:extLst>
              </a:tr>
              <a:tr h="783236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1" i="0" u="none" strike="noStrike" kern="1200" noProof="0" dirty="0">
                          <a:solidFill>
                            <a:schemeClr val="dk1"/>
                          </a:solidFill>
                          <a:latin typeface="Avenir Next LT Pro"/>
                          <a:ea typeface="+mn-ea"/>
                          <a:cs typeface="+mn-cs"/>
                        </a:rPr>
                        <a:t>Used for</a:t>
                      </a:r>
                      <a:endParaRPr lang="en-US" sz="1800" b="1" i="0" u="none" strike="noStrike" kern="1200" dirty="0">
                        <a:solidFill>
                          <a:schemeClr val="dk1"/>
                        </a:solidFill>
                        <a:latin typeface="Avenir Next LT Pro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kern="1200" noProof="0" dirty="0">
                          <a:solidFill>
                            <a:schemeClr val="dk1"/>
                          </a:solidFill>
                          <a:latin typeface="Avenir Next LT Pro"/>
                          <a:ea typeface="+mn-ea"/>
                          <a:cs typeface="+mn-cs"/>
                        </a:rPr>
                        <a:t>Saving files, OS boot</a:t>
                      </a:r>
                      <a:endParaRPr lang="en-US" sz="1800" b="0" i="0" u="none" strike="noStrike" kern="1200" dirty="0">
                        <a:solidFill>
                          <a:schemeClr val="dk1"/>
                        </a:solidFill>
                        <a:latin typeface="Avenir Next LT Pro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kern="1200" noProof="0" dirty="0">
                          <a:solidFill>
                            <a:schemeClr val="dk1"/>
                          </a:solidFill>
                          <a:latin typeface="Avenir Next LT Pro"/>
                          <a:ea typeface="+mn-ea"/>
                          <a:cs typeface="+mn-cs"/>
                        </a:rPr>
                        <a:t>Running apps, buffer/cache</a:t>
                      </a:r>
                      <a:endParaRPr lang="en-US" sz="1800" b="0" i="0" u="none" strike="noStrike" kern="1200" dirty="0">
                        <a:solidFill>
                          <a:schemeClr val="dk1"/>
                        </a:solidFill>
                        <a:latin typeface="Avenir Next LT Pro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kern="1200" noProof="0" dirty="0">
                          <a:solidFill>
                            <a:schemeClr val="dk1"/>
                          </a:solidFill>
                          <a:latin typeface="Avenir Next LT Pro"/>
                          <a:ea typeface="+mn-ea"/>
                          <a:cs typeface="+mn-cs"/>
                        </a:rPr>
                        <a:t>Executing code and logic</a:t>
                      </a:r>
                      <a:endParaRPr lang="en-US" sz="1800" b="0" i="0" u="none" strike="noStrike" kern="1200" dirty="0">
                        <a:solidFill>
                          <a:schemeClr val="dk1"/>
                        </a:solidFill>
                        <a:latin typeface="Avenir Next LT Pro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71015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729353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87A0FBA-CC04-4256-A8EB-BB3C543E98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66FC6F62-FEC6-45C4-B697-39FDA62A96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10653162" y="-776838"/>
            <a:ext cx="762001" cy="2315675"/>
          </a:xfrm>
          <a:custGeom>
            <a:avLst/>
            <a:gdLst>
              <a:gd name="connsiteX0" fmla="*/ 0 w 1085312"/>
              <a:gd name="connsiteY0" fmla="*/ 2315675 h 2315675"/>
              <a:gd name="connsiteX1" fmla="*/ 0 w 1085312"/>
              <a:gd name="connsiteY1" fmla="*/ 0 h 2315675"/>
              <a:gd name="connsiteX2" fmla="*/ 53089 w 1085312"/>
              <a:gd name="connsiteY2" fmla="*/ 4542 h 2315675"/>
              <a:gd name="connsiteX3" fmla="*/ 790077 w 1085312"/>
              <a:gd name="connsiteY3" fmla="*/ 872756 h 2315675"/>
              <a:gd name="connsiteX4" fmla="*/ 1085252 w 1085312"/>
              <a:gd name="connsiteY4" fmla="*/ 1943649 h 2315675"/>
              <a:gd name="connsiteX5" fmla="*/ 1064832 w 1085312"/>
              <a:gd name="connsiteY5" fmla="*/ 2198094 h 2315675"/>
              <a:gd name="connsiteX6" fmla="*/ 1043734 w 1085312"/>
              <a:gd name="connsiteY6" fmla="*/ 2315675 h 2315675"/>
              <a:gd name="connsiteX7" fmla="*/ 0 w 1085312"/>
              <a:gd name="connsiteY7" fmla="*/ 2315675 h 2315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85312" h="2315675">
                <a:moveTo>
                  <a:pt x="0" y="2315675"/>
                </a:moveTo>
                <a:lnTo>
                  <a:pt x="0" y="0"/>
                </a:lnTo>
                <a:lnTo>
                  <a:pt x="53089" y="4542"/>
                </a:lnTo>
                <a:cubicBezTo>
                  <a:pt x="405263" y="73503"/>
                  <a:pt x="612623" y="486635"/>
                  <a:pt x="790077" y="872756"/>
                </a:cubicBezTo>
                <a:cubicBezTo>
                  <a:pt x="937425" y="1193596"/>
                  <a:pt x="1088787" y="1533232"/>
                  <a:pt x="1085252" y="1943649"/>
                </a:cubicBezTo>
                <a:cubicBezTo>
                  <a:pt x="1084528" y="2029058"/>
                  <a:pt x="1077341" y="2113833"/>
                  <a:pt x="1064832" y="2198094"/>
                </a:cubicBezTo>
                <a:lnTo>
                  <a:pt x="1043734" y="2315675"/>
                </a:lnTo>
                <a:lnTo>
                  <a:pt x="0" y="231567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solidFill>
                <a:prstClr val="white"/>
              </a:solidFill>
              <a:latin typeface="Avenir Next LT Pro" panose="020B0504020202020204" pitchFamily="34" charset="0"/>
            </a:endParaRPr>
          </a:p>
        </p:txBody>
      </p:sp>
      <p:pic>
        <p:nvPicPr>
          <p:cNvPr id="4" name="Picture 3" descr="Lightbox">
            <a:extLst>
              <a:ext uri="{FF2B5EF4-FFF2-40B4-BE49-F238E27FC236}">
                <a16:creationId xmlns:a16="http://schemas.microsoft.com/office/drawing/2014/main" id="{02B5C00D-825E-00A9-6609-E73D69795CE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2531" r="22684" b="2"/>
          <a:stretch>
            <a:fillRect/>
          </a:stretch>
        </p:blipFill>
        <p:spPr>
          <a:xfrm>
            <a:off x="762000" y="762001"/>
            <a:ext cx="4572000" cy="5334000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F8D7210F-BCFD-46C1-9A2C-3717368B1A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-1" y="5829359"/>
            <a:ext cx="4333875" cy="1028642"/>
            <a:chOff x="7153921" y="5829359"/>
            <a:chExt cx="5038079" cy="102864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2C96BB9F-FD85-4689-A888-9A5AA0A145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63906" y="5913098"/>
              <a:ext cx="4228094" cy="944903"/>
            </a:xfrm>
            <a:custGeom>
              <a:avLst/>
              <a:gdLst>
                <a:gd name="connsiteX0" fmla="*/ 1673074 w 4228094"/>
                <a:gd name="connsiteY0" fmla="*/ 230 h 1137038"/>
                <a:gd name="connsiteX1" fmla="*/ 3676781 w 4228094"/>
                <a:gd name="connsiteY1" fmla="*/ 298555 h 1137038"/>
                <a:gd name="connsiteX2" fmla="*/ 4025527 w 4228094"/>
                <a:gd name="connsiteY2" fmla="*/ 425010 h 1137038"/>
                <a:gd name="connsiteX3" fmla="*/ 4228094 w 4228094"/>
                <a:gd name="connsiteY3" fmla="*/ 494088 h 1137038"/>
                <a:gd name="connsiteX4" fmla="*/ 4228094 w 4228094"/>
                <a:gd name="connsiteY4" fmla="*/ 1137038 h 1137038"/>
                <a:gd name="connsiteX5" fmla="*/ 0 w 4228094"/>
                <a:gd name="connsiteY5" fmla="*/ 1137038 h 1137038"/>
                <a:gd name="connsiteX6" fmla="*/ 18109 w 4228094"/>
                <a:gd name="connsiteY6" fmla="*/ 1068877 h 1137038"/>
                <a:gd name="connsiteX7" fmla="*/ 362264 w 4228094"/>
                <a:gd name="connsiteY7" fmla="*/ 366637 h 1137038"/>
                <a:gd name="connsiteX8" fmla="*/ 1386499 w 4228094"/>
                <a:gd name="connsiteY8" fmla="*/ 1522 h 1137038"/>
                <a:gd name="connsiteX9" fmla="*/ 1673074 w 4228094"/>
                <a:gd name="connsiteY9" fmla="*/ 230 h 1137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28094" h="1137038">
                  <a:moveTo>
                    <a:pt x="1673074" y="230"/>
                  </a:moveTo>
                  <a:cubicBezTo>
                    <a:pt x="2346512" y="4287"/>
                    <a:pt x="3048424" y="63583"/>
                    <a:pt x="3676781" y="298555"/>
                  </a:cubicBezTo>
                  <a:cubicBezTo>
                    <a:pt x="3793275" y="342114"/>
                    <a:pt x="3909477" y="384216"/>
                    <a:pt x="4025527" y="425010"/>
                  </a:cubicBezTo>
                  <a:lnTo>
                    <a:pt x="4228094" y="494088"/>
                  </a:lnTo>
                  <a:lnTo>
                    <a:pt x="4228094" y="1137038"/>
                  </a:lnTo>
                  <a:lnTo>
                    <a:pt x="0" y="1137038"/>
                  </a:lnTo>
                  <a:lnTo>
                    <a:pt x="18109" y="1068877"/>
                  </a:lnTo>
                  <a:cubicBezTo>
                    <a:pt x="95047" y="799139"/>
                    <a:pt x="194962" y="542008"/>
                    <a:pt x="362264" y="366637"/>
                  </a:cubicBezTo>
                  <a:cubicBezTo>
                    <a:pt x="622229" y="94062"/>
                    <a:pt x="1015836" y="6565"/>
                    <a:pt x="1386499" y="1522"/>
                  </a:cubicBezTo>
                  <a:cubicBezTo>
                    <a:pt x="1481245" y="198"/>
                    <a:pt x="1576869" y="-349"/>
                    <a:pt x="1673074" y="23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1500">
                <a:solidFill>
                  <a:schemeClr val="bg1"/>
                </a:solidFill>
                <a:latin typeface="Avenir Next LT Pro" panose="020B0504020202020204" pitchFamily="34" charset="0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78545FC7-27EF-4BF9-A88F-35F089DF69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153921" y="5829359"/>
              <a:ext cx="5038078" cy="1028642"/>
            </a:xfrm>
            <a:custGeom>
              <a:avLst/>
              <a:gdLst>
                <a:gd name="connsiteX0" fmla="*/ 1576991 w 5038078"/>
                <a:gd name="connsiteY0" fmla="*/ 210 h 1238015"/>
                <a:gd name="connsiteX1" fmla="*/ 3403320 w 5038078"/>
                <a:gd name="connsiteY1" fmla="*/ 272125 h 1238015"/>
                <a:gd name="connsiteX2" fmla="*/ 4672870 w 5038078"/>
                <a:gd name="connsiteY2" fmla="*/ 693604 h 1238015"/>
                <a:gd name="connsiteX3" fmla="*/ 5038078 w 5038078"/>
                <a:gd name="connsiteY3" fmla="*/ 795929 h 1238015"/>
                <a:gd name="connsiteX4" fmla="*/ 5038078 w 5038078"/>
                <a:gd name="connsiteY4" fmla="*/ 1238015 h 1238015"/>
                <a:gd name="connsiteX5" fmla="*/ 0 w 5038078"/>
                <a:gd name="connsiteY5" fmla="*/ 1238015 h 1238015"/>
                <a:gd name="connsiteX6" fmla="*/ 19230 w 5038078"/>
                <a:gd name="connsiteY6" fmla="*/ 1159819 h 1238015"/>
                <a:gd name="connsiteX7" fmla="*/ 382219 w 5038078"/>
                <a:gd name="connsiteY7" fmla="*/ 334180 h 1238015"/>
                <a:gd name="connsiteX8" fmla="*/ 1315784 w 5038078"/>
                <a:gd name="connsiteY8" fmla="*/ 1388 h 1238015"/>
                <a:gd name="connsiteX9" fmla="*/ 1576991 w 5038078"/>
                <a:gd name="connsiteY9" fmla="*/ 210 h 1238015"/>
                <a:gd name="connsiteX0" fmla="*/ 0 w 5129518"/>
                <a:gd name="connsiteY0" fmla="*/ 1237805 h 1329245"/>
                <a:gd name="connsiteX1" fmla="*/ 19230 w 5129518"/>
                <a:gd name="connsiteY1" fmla="*/ 1159609 h 1329245"/>
                <a:gd name="connsiteX2" fmla="*/ 382219 w 5129518"/>
                <a:gd name="connsiteY2" fmla="*/ 333970 h 1329245"/>
                <a:gd name="connsiteX3" fmla="*/ 1315784 w 5129518"/>
                <a:gd name="connsiteY3" fmla="*/ 1178 h 1329245"/>
                <a:gd name="connsiteX4" fmla="*/ 1576991 w 5129518"/>
                <a:gd name="connsiteY4" fmla="*/ 0 h 1329245"/>
                <a:gd name="connsiteX5" fmla="*/ 3403320 w 5129518"/>
                <a:gd name="connsiteY5" fmla="*/ 271915 h 1329245"/>
                <a:gd name="connsiteX6" fmla="*/ 4672870 w 5129518"/>
                <a:gd name="connsiteY6" fmla="*/ 693394 h 1329245"/>
                <a:gd name="connsiteX7" fmla="*/ 5038078 w 5129518"/>
                <a:gd name="connsiteY7" fmla="*/ 795719 h 1329245"/>
                <a:gd name="connsiteX8" fmla="*/ 5129518 w 5129518"/>
                <a:gd name="connsiteY8" fmla="*/ 1329245 h 1329245"/>
                <a:gd name="connsiteX0" fmla="*/ 0 w 5129518"/>
                <a:gd name="connsiteY0" fmla="*/ 1237805 h 1329245"/>
                <a:gd name="connsiteX1" fmla="*/ 19230 w 5129518"/>
                <a:gd name="connsiteY1" fmla="*/ 1159609 h 1329245"/>
                <a:gd name="connsiteX2" fmla="*/ 382219 w 5129518"/>
                <a:gd name="connsiteY2" fmla="*/ 333970 h 1329245"/>
                <a:gd name="connsiteX3" fmla="*/ 1315784 w 5129518"/>
                <a:gd name="connsiteY3" fmla="*/ 1178 h 1329245"/>
                <a:gd name="connsiteX4" fmla="*/ 1576991 w 5129518"/>
                <a:gd name="connsiteY4" fmla="*/ 0 h 1329245"/>
                <a:gd name="connsiteX5" fmla="*/ 3403320 w 5129518"/>
                <a:gd name="connsiteY5" fmla="*/ 271915 h 1329245"/>
                <a:gd name="connsiteX6" fmla="*/ 4672870 w 5129518"/>
                <a:gd name="connsiteY6" fmla="*/ 693394 h 1329245"/>
                <a:gd name="connsiteX7" fmla="*/ 5038078 w 5129518"/>
                <a:gd name="connsiteY7" fmla="*/ 795719 h 1329245"/>
                <a:gd name="connsiteX8" fmla="*/ 5129518 w 5129518"/>
                <a:gd name="connsiteY8" fmla="*/ 1329245 h 1329245"/>
                <a:gd name="connsiteX0" fmla="*/ 0 w 5049689"/>
                <a:gd name="connsiteY0" fmla="*/ 1237805 h 1423588"/>
                <a:gd name="connsiteX1" fmla="*/ 19230 w 5049689"/>
                <a:gd name="connsiteY1" fmla="*/ 1159609 h 1423588"/>
                <a:gd name="connsiteX2" fmla="*/ 382219 w 5049689"/>
                <a:gd name="connsiteY2" fmla="*/ 333970 h 1423588"/>
                <a:gd name="connsiteX3" fmla="*/ 1315784 w 5049689"/>
                <a:gd name="connsiteY3" fmla="*/ 1178 h 1423588"/>
                <a:gd name="connsiteX4" fmla="*/ 1576991 w 5049689"/>
                <a:gd name="connsiteY4" fmla="*/ 0 h 1423588"/>
                <a:gd name="connsiteX5" fmla="*/ 3403320 w 5049689"/>
                <a:gd name="connsiteY5" fmla="*/ 271915 h 1423588"/>
                <a:gd name="connsiteX6" fmla="*/ 4672870 w 5049689"/>
                <a:gd name="connsiteY6" fmla="*/ 693394 h 1423588"/>
                <a:gd name="connsiteX7" fmla="*/ 5038078 w 5049689"/>
                <a:gd name="connsiteY7" fmla="*/ 795719 h 1423588"/>
                <a:gd name="connsiteX8" fmla="*/ 5049689 w 5049689"/>
                <a:gd name="connsiteY8" fmla="*/ 1423588 h 1423588"/>
                <a:gd name="connsiteX0" fmla="*/ 0 w 5038078"/>
                <a:gd name="connsiteY0" fmla="*/ 1237805 h 1237805"/>
                <a:gd name="connsiteX1" fmla="*/ 19230 w 5038078"/>
                <a:gd name="connsiteY1" fmla="*/ 1159609 h 1237805"/>
                <a:gd name="connsiteX2" fmla="*/ 382219 w 5038078"/>
                <a:gd name="connsiteY2" fmla="*/ 333970 h 1237805"/>
                <a:gd name="connsiteX3" fmla="*/ 1315784 w 5038078"/>
                <a:gd name="connsiteY3" fmla="*/ 1178 h 1237805"/>
                <a:gd name="connsiteX4" fmla="*/ 1576991 w 5038078"/>
                <a:gd name="connsiteY4" fmla="*/ 0 h 1237805"/>
                <a:gd name="connsiteX5" fmla="*/ 3403320 w 5038078"/>
                <a:gd name="connsiteY5" fmla="*/ 271915 h 1237805"/>
                <a:gd name="connsiteX6" fmla="*/ 4672870 w 5038078"/>
                <a:gd name="connsiteY6" fmla="*/ 693394 h 1237805"/>
                <a:gd name="connsiteX7" fmla="*/ 5038078 w 5038078"/>
                <a:gd name="connsiteY7" fmla="*/ 795719 h 12378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038078" h="1237805">
                  <a:moveTo>
                    <a:pt x="0" y="1237805"/>
                  </a:moveTo>
                  <a:lnTo>
                    <a:pt x="19230" y="1159609"/>
                  </a:lnTo>
                  <a:cubicBezTo>
                    <a:pt x="96961" y="850027"/>
                    <a:pt x="191605" y="533778"/>
                    <a:pt x="382219" y="333970"/>
                  </a:cubicBezTo>
                  <a:cubicBezTo>
                    <a:pt x="619171" y="85526"/>
                    <a:pt x="977934" y="5774"/>
                    <a:pt x="1315784" y="1178"/>
                  </a:cubicBezTo>
                  <a:lnTo>
                    <a:pt x="1576991" y="0"/>
                  </a:lnTo>
                  <a:cubicBezTo>
                    <a:pt x="2190813" y="3698"/>
                    <a:pt x="2830589" y="57744"/>
                    <a:pt x="3403320" y="271915"/>
                  </a:cubicBezTo>
                  <a:cubicBezTo>
                    <a:pt x="3828046" y="430728"/>
                    <a:pt x="4248519" y="568281"/>
                    <a:pt x="4672870" y="693394"/>
                  </a:cubicBezTo>
                  <a:lnTo>
                    <a:pt x="5038078" y="795719"/>
                  </a:lnTo>
                </a:path>
              </a:pathLst>
            </a:custGeom>
            <a:noFill/>
            <a:ln w="1905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Avenir Next LT Pro Light"/>
              </a:endParaRPr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9E386B-EE2B-6E61-E26A-E399BA8585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2286000"/>
            <a:ext cx="5334000" cy="3810001"/>
          </a:xfrm>
        </p:spPr>
        <p:txBody>
          <a:bodyPr vert="horz" lIns="91440" tIns="45720" rIns="91440" bIns="45720" rtlCol="0">
            <a:normAutofit/>
          </a:bodyPr>
          <a:lstStyle/>
          <a:p>
            <a:pPr marL="514350" indent="-514350">
              <a:lnSpc>
                <a:spcPct val="115000"/>
              </a:lnSpc>
              <a:buAutoNum type="arabicPeriod"/>
            </a:pPr>
            <a:r>
              <a:rPr lang="en-US" sz="2200"/>
              <a:t>CPU starts executing BIOS code (From the reset vector)</a:t>
            </a:r>
          </a:p>
          <a:p>
            <a:pPr marL="514350" indent="-514350">
              <a:lnSpc>
                <a:spcPct val="115000"/>
              </a:lnSpc>
              <a:buAutoNum type="arabicPeriod"/>
            </a:pPr>
            <a:r>
              <a:rPr lang="en-US" sz="2200"/>
              <a:t>BIOS loads boot sector – reads block 0 from disk using LBA – block0 is where the bootloader lives</a:t>
            </a:r>
          </a:p>
          <a:p>
            <a:pPr marL="514350" indent="-514350">
              <a:lnSpc>
                <a:spcPct val="115000"/>
              </a:lnSpc>
              <a:buAutoNum type="arabicPeriod"/>
            </a:pPr>
            <a:r>
              <a:rPr lang="en-US" sz="2200"/>
              <a:t>Put them in RAM</a:t>
            </a:r>
          </a:p>
          <a:p>
            <a:pPr marL="514350" indent="-514350">
              <a:lnSpc>
                <a:spcPct val="115000"/>
              </a:lnSpc>
              <a:buAutoNum type="arabicPeriod"/>
            </a:pPr>
            <a:r>
              <a:rPr lang="en-US" sz="2200"/>
              <a:t>Execute from RAM never from the Disk!</a:t>
            </a:r>
          </a:p>
          <a:p>
            <a:pPr marL="514350" indent="-514350">
              <a:lnSpc>
                <a:spcPct val="115000"/>
              </a:lnSpc>
              <a:buAutoNum type="arabicPeriod"/>
            </a:pPr>
            <a:endParaRPr lang="en-US" sz="2200"/>
          </a:p>
          <a:p>
            <a:pPr marL="514350" indent="-514350">
              <a:lnSpc>
                <a:spcPct val="115000"/>
              </a:lnSpc>
              <a:buAutoNum type="arabicPeriod"/>
            </a:pPr>
            <a:endParaRPr lang="en-US" sz="22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7983EC-D4A0-0D58-9D72-2E56DB3DA1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762000"/>
            <a:ext cx="5334000" cy="1524000"/>
          </a:xfrm>
        </p:spPr>
        <p:txBody>
          <a:bodyPr>
            <a:normAutofit/>
          </a:bodyPr>
          <a:lstStyle/>
          <a:p>
            <a:r>
              <a:rPr lang="en-US" sz="3200"/>
              <a:t>What happenes on startup?</a:t>
            </a:r>
          </a:p>
        </p:txBody>
      </p:sp>
    </p:spTree>
    <p:extLst>
      <p:ext uri="{BB962C8B-B14F-4D97-AF65-F5344CB8AC3E}">
        <p14:creationId xmlns:p14="http://schemas.microsoft.com/office/powerpoint/2010/main" val="12036162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46601-EC44-F478-C619-90ED44939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Whats</a:t>
            </a:r>
            <a:r>
              <a:rPr lang="en-US" dirty="0"/>
              <a:t> a bootloader 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FCE0B1-FD4D-6D9E-A1DD-A8C7241D10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solidFill>
                  <a:srgbClr val="FFFFFF">
                    <a:alpha val="70000"/>
                  </a:srgbClr>
                </a:solidFill>
              </a:rPr>
              <a:t>Main functionality</a:t>
            </a:r>
          </a:p>
          <a:p>
            <a:endParaRPr lang="en-US" dirty="0">
              <a:solidFill>
                <a:srgbClr val="FFFFFF">
                  <a:alpha val="70000"/>
                </a:srgbClr>
              </a:solidFill>
            </a:endParaRPr>
          </a:p>
          <a:p>
            <a:r>
              <a:rPr lang="en-US" dirty="0">
                <a:solidFill>
                  <a:srgbClr val="FFFFFF">
                    <a:alpha val="70000"/>
                  </a:srgbClr>
                </a:solidFill>
              </a:rPr>
              <a:t>Stage 1: roles, </a:t>
            </a:r>
            <a:r>
              <a:rPr lang="en-US" dirty="0" err="1">
                <a:solidFill>
                  <a:srgbClr val="FFFFFF">
                    <a:alpha val="70000"/>
                  </a:srgbClr>
                </a:solidFill>
              </a:rPr>
              <a:t>func</a:t>
            </a:r>
            <a:r>
              <a:rPr lang="en-US" dirty="0">
                <a:solidFill>
                  <a:srgbClr val="FFFFFF">
                    <a:alpha val="70000"/>
                  </a:srgbClr>
                </a:solidFill>
              </a:rPr>
              <a:t>, code</a:t>
            </a:r>
            <a:endParaRPr lang="en-US"/>
          </a:p>
          <a:p>
            <a:endParaRPr lang="en-US" dirty="0">
              <a:solidFill>
                <a:srgbClr val="FFFFFF">
                  <a:alpha val="70000"/>
                </a:srgbClr>
              </a:solidFill>
            </a:endParaRPr>
          </a:p>
          <a:p>
            <a:r>
              <a:rPr lang="en-US" dirty="0">
                <a:solidFill>
                  <a:srgbClr val="FFFFFF">
                    <a:alpha val="70000"/>
                  </a:srgbClr>
                </a:solidFill>
              </a:rPr>
              <a:t>Stage2: features, trad. roles</a:t>
            </a:r>
          </a:p>
        </p:txBody>
      </p:sp>
    </p:spTree>
    <p:extLst>
      <p:ext uri="{BB962C8B-B14F-4D97-AF65-F5344CB8AC3E}">
        <p14:creationId xmlns:p14="http://schemas.microsoft.com/office/powerpoint/2010/main" val="21119212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719DC0-8FB6-F187-5F80-86CF03DE5A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 + Future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7A6B76-A858-3572-B606-D926C96688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Font typeface="Calibri" panose="020B0604020202020204" pitchFamily="34" charset="0"/>
              <a:buChar char="-"/>
            </a:pPr>
            <a:r>
              <a:rPr lang="en-US" dirty="0">
                <a:solidFill>
                  <a:srgbClr val="FFFFFF">
                    <a:alpha val="70000"/>
                  </a:srgbClr>
                </a:solidFill>
              </a:rPr>
              <a:t>Why is my bootloader unique?</a:t>
            </a:r>
          </a:p>
          <a:p>
            <a:pPr>
              <a:buFont typeface="Calibri" panose="020B0604020202020204" pitchFamily="34" charset="0"/>
              <a:buChar char="-"/>
            </a:pPr>
            <a:r>
              <a:rPr lang="en-US" dirty="0">
                <a:solidFill>
                  <a:srgbClr val="FFFFFF">
                    <a:alpha val="70000"/>
                  </a:srgbClr>
                </a:solidFill>
              </a:rPr>
              <a:t>Other bootloaders to note:</a:t>
            </a:r>
          </a:p>
          <a:p>
            <a:pPr>
              <a:buFont typeface="Calibri" panose="020B0604020202020204" pitchFamily="34" charset="0"/>
              <a:buChar char="-"/>
            </a:pPr>
            <a:br>
              <a:rPr lang="en-US" dirty="0">
                <a:solidFill>
                  <a:srgbClr val="FFFFFF">
                    <a:alpha val="70000"/>
                  </a:srgbClr>
                </a:solidFill>
              </a:rPr>
            </a:br>
            <a:br>
              <a:rPr lang="en-US" dirty="0">
                <a:solidFill>
                  <a:srgbClr val="FFFFFF">
                    <a:alpha val="70000"/>
                  </a:srgbClr>
                </a:solidFill>
              </a:rPr>
            </a:br>
            <a:br>
              <a:rPr lang="en-US" dirty="0">
                <a:solidFill>
                  <a:srgbClr val="FFFFFF">
                    <a:alpha val="70000"/>
                  </a:srgbClr>
                </a:solidFill>
              </a:rPr>
            </a:br>
            <a:endParaRPr lang="en-US" dirty="0">
              <a:solidFill>
                <a:srgbClr val="FFFFFF">
                  <a:alpha val="70000"/>
                </a:srgbClr>
              </a:solidFill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6531975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3855FA-C4D5-192C-FCF8-D103D3C4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2314754"/>
            <a:ext cx="10668000" cy="1524000"/>
          </a:xfrm>
        </p:spPr>
        <p:txBody>
          <a:bodyPr/>
          <a:lstStyle/>
          <a:p>
            <a:pPr algn="ctr"/>
            <a:r>
              <a:rPr lang="en-US" b="1" err="1"/>
              <a:t>Благодаря</a:t>
            </a:r>
            <a:r>
              <a:rPr lang="en-US" b="1" dirty="0"/>
              <a:t> </a:t>
            </a:r>
            <a:r>
              <a:rPr lang="en-US" b="1" err="1"/>
              <a:t>за</a:t>
            </a:r>
            <a:r>
              <a:rPr lang="en-US" b="1" dirty="0"/>
              <a:t> </a:t>
            </a:r>
            <a:r>
              <a:rPr lang="en-US" b="1" err="1"/>
              <a:t>вниманието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014266"/>
      </p:ext>
    </p:extLst>
  </p:cSld>
  <p:clrMapOvr>
    <a:masterClrMapping/>
  </p:clrMapOvr>
</p:sld>
</file>

<file path=ppt/theme/theme1.xml><?xml version="1.0" encoding="utf-8"?>
<a:theme xmlns:a="http://schemas.openxmlformats.org/drawingml/2006/main" name="PebbleVTI">
  <a:themeElements>
    <a:clrScheme name="Blush 3">
      <a:dk1>
        <a:sysClr val="windowText" lastClr="000000"/>
      </a:dk1>
      <a:lt1>
        <a:sysClr val="window" lastClr="FFFFFF"/>
      </a:lt1>
      <a:dk2>
        <a:srgbClr val="B15E4E"/>
      </a:dk2>
      <a:lt2>
        <a:srgbClr val="FFFFFF"/>
      </a:lt2>
      <a:accent1>
        <a:srgbClr val="C5B096"/>
      </a:accent1>
      <a:accent2>
        <a:srgbClr val="ECA855"/>
      </a:accent2>
      <a:accent3>
        <a:srgbClr val="9BBFB0"/>
      </a:accent3>
      <a:accent4>
        <a:srgbClr val="A9AEA7"/>
      </a:accent4>
      <a:accent5>
        <a:srgbClr val="6A787C"/>
      </a:accent5>
      <a:accent6>
        <a:srgbClr val="3B4345"/>
      </a:accent6>
      <a:hlink>
        <a:srgbClr val="ECA855"/>
      </a:hlink>
      <a:folHlink>
        <a:srgbClr val="6A392F"/>
      </a:folHlink>
    </a:clrScheme>
    <a:fontScheme name="Custom 4">
      <a:majorFont>
        <a:latin typeface="Sitka Subheading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ebbleVTI" id="{8B4DB91D-6BB4-4BA3-973A-733D3AF2680E}" vid="{9A19CF0D-2077-4BF4-BAA5-86934C336D5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6</Slides>
  <Notes>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PebbleVTI</vt:lpstr>
      <vt:lpstr>Проектна Практика</vt:lpstr>
      <vt:lpstr>Disk VS RAM VS CPU and how they interact</vt:lpstr>
      <vt:lpstr>What happenes on startup?</vt:lpstr>
      <vt:lpstr>Whats a bootloader ?</vt:lpstr>
      <vt:lpstr>Demo + Future features</vt:lpstr>
      <vt:lpstr>Благодаря за вниманието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205</cp:revision>
  <dcterms:created xsi:type="dcterms:W3CDTF">2025-07-13T22:01:56Z</dcterms:created>
  <dcterms:modified xsi:type="dcterms:W3CDTF">2025-07-14T00:18:28Z</dcterms:modified>
</cp:coreProperties>
</file>